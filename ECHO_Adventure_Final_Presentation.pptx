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ea68b933e4517" /><Relationship Type="http://schemas.openxmlformats.org/officeDocument/2006/relationships/extended-properties" Target="/docProps/app.xml" Id="Rfcb615aa23164fe8" /><Relationship Type="http://schemas.openxmlformats.org/officeDocument/2006/relationships/officeDocument" Target="/ppt/presentation.xml" Id="R284883dfb9ad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35718d823e41fd"/>
  </p:sldMasterIdLst>
  <p:notesMasterIdLst>
    <p:notesMasterId xmlns:r="http://schemas.openxmlformats.org/officeDocument/2006/relationships" r:id="R2d92c861daa340b5"/>
  </p:notesMasterIdLst>
  <p:sldIdLst>
    <p:sldId xmlns:r="http://schemas.openxmlformats.org/officeDocument/2006/relationships" id="256" r:id="Re29828ef1ace48ce"/>
    <p:sldId xmlns:r="http://schemas.openxmlformats.org/officeDocument/2006/relationships" id="257" r:id="R60a3a3055d1a43b7"/>
    <p:sldId xmlns:r="http://schemas.openxmlformats.org/officeDocument/2006/relationships" id="258" r:id="R5d7a0b0509e3477f"/>
    <p:sldId xmlns:r="http://schemas.openxmlformats.org/officeDocument/2006/relationships" id="259" r:id="Re9fd082dabd5483a"/>
    <p:sldId xmlns:r="http://schemas.openxmlformats.org/officeDocument/2006/relationships" id="260" r:id="R516a1ceaff8f4676"/>
    <p:sldId xmlns:r="http://schemas.openxmlformats.org/officeDocument/2006/relationships" id="261" r:id="R1b29fc17492e4435"/>
    <p:sldId xmlns:r="http://schemas.openxmlformats.org/officeDocument/2006/relationships" id="262" r:id="R37e2010a90f54398"/>
    <p:sldId xmlns:r="http://schemas.openxmlformats.org/officeDocument/2006/relationships" id="263" r:id="R30f1a3f783824cea"/>
    <p:sldId xmlns:r="http://schemas.openxmlformats.org/officeDocument/2006/relationships" id="264" r:id="R7b9b5384a96249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bc7ea388c74980" /><Relationship Type="http://schemas.openxmlformats.org/officeDocument/2006/relationships/slideMaster" Target="/ppt/slideMasters/slideMaster1.xml" Id="R1935718d823e41fd" /><Relationship Type="http://schemas.openxmlformats.org/officeDocument/2006/relationships/notesMaster" Target="/ppt/notesMasters/notesMaster1.xml" Id="R2d92c861daa340b5" /><Relationship Type="http://schemas.openxmlformats.org/officeDocument/2006/relationships/presProps" Target="/ppt/presProps.xml" Id="Rbd331ff7f89b4350" /><Relationship Type="http://schemas.openxmlformats.org/officeDocument/2006/relationships/tableStyles" Target="/ppt/tableStyles.xml" Id="Ra9b15aecf33f4205" /><Relationship Type="http://schemas.openxmlformats.org/officeDocument/2006/relationships/slide" Target="/ppt/slides/slide1.xml" Id="Re29828ef1ace48ce" /><Relationship Type="http://schemas.openxmlformats.org/officeDocument/2006/relationships/slide" Target="/ppt/slides/slide2.xml" Id="R60a3a3055d1a43b7" /><Relationship Type="http://schemas.openxmlformats.org/officeDocument/2006/relationships/slide" Target="/ppt/slides/slide3.xml" Id="R5d7a0b0509e3477f" /><Relationship Type="http://schemas.openxmlformats.org/officeDocument/2006/relationships/slide" Target="/ppt/slides/slide4.xml" Id="Re9fd082dabd5483a" /><Relationship Type="http://schemas.openxmlformats.org/officeDocument/2006/relationships/slide" Target="/ppt/slides/slide5.xml" Id="R516a1ceaff8f4676" /><Relationship Type="http://schemas.openxmlformats.org/officeDocument/2006/relationships/slide" Target="/ppt/slides/slide6.xml" Id="R1b29fc17492e4435" /><Relationship Type="http://schemas.openxmlformats.org/officeDocument/2006/relationships/slide" Target="/ppt/slides/slide7.xml" Id="R37e2010a90f54398" /><Relationship Type="http://schemas.openxmlformats.org/officeDocument/2006/relationships/slide" Target="/ppt/slides/slide8.xml" Id="R30f1a3f783824cea" /><Relationship Type="http://schemas.openxmlformats.org/officeDocument/2006/relationships/slide" Target="/ppt/slides/slide9.xml" Id="R7b9b5384a96249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68ce124a8d48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85e8174a654be6" /><Relationship Type="http://schemas.openxmlformats.org/officeDocument/2006/relationships/notesMaster" Target="/ppt/notesMasters/notesMaster1.xml" Id="Rcd10d1bc144f4c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58075b736841a3" /><Relationship Type="http://schemas.openxmlformats.org/officeDocument/2006/relationships/notesMaster" Target="/ppt/notesMasters/notesMaster1.xml" Id="R8142ae34c0bd47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d8fa539c2e4391" /><Relationship Type="http://schemas.openxmlformats.org/officeDocument/2006/relationships/notesMaster" Target="/ppt/notesMasters/notesMaster1.xml" Id="Rb40f9f2daa4742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5df0040dc84306" /><Relationship Type="http://schemas.openxmlformats.org/officeDocument/2006/relationships/notesMaster" Target="/ppt/notesMasters/notesMaster1.xml" Id="R37256c00d2554a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3cd6c3c7e746fe" /><Relationship Type="http://schemas.openxmlformats.org/officeDocument/2006/relationships/notesMaster" Target="/ppt/notesMasters/notesMaster1.xml" Id="R11bfe6129f7041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28a3e30e2544fd" /><Relationship Type="http://schemas.openxmlformats.org/officeDocument/2006/relationships/notesMaster" Target="/ppt/notesMasters/notesMaster1.xml" Id="Rd8ce7166d2ab4d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a796c27bd04050" /><Relationship Type="http://schemas.openxmlformats.org/officeDocument/2006/relationships/notesMaster" Target="/ppt/notesMasters/notesMaster1.xml" Id="R332f7c7b9ebf42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33ad9a61c147f9" /><Relationship Type="http://schemas.openxmlformats.org/officeDocument/2006/relationships/notesMaster" Target="/ppt/notesMasters/notesMaster1.xml" Id="Rbf2ef9e5dce749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5a080ef67d4d2d" /><Relationship Type="http://schemas.openxmlformats.org/officeDocument/2006/relationships/notesMaster" Target="/ppt/notesMasters/notesMaster1.xml" Id="Rd307c57c9d0f44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project name and the scope: a short decision game created with AI-assisted development.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- /Users/matthew/echo_adventure/echo_adventure/ui/assets/logos/echo-logo-full.png</a:t>
            </a:r>
          </a:p>
          <a:p xmlns:a="http://schemas.openxmlformats.org/drawingml/2006/main">
            <a:r>
              <a:t>- /Users/matthew/echo_adventure/echo_adventure/ui/assets/virginia-submarine-cutout.png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core loop: daily choices affect 20 jobs, and the short play time keeps the comparison with ECHO immediate.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- /Users/matthew/echo_adventure/README.md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the live game here. Show one daily decision, the 20-job submarine assembly, and the player-versus-ECHO progress bars.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- /private/tmp/echo-final-deck.ndK8s3/app-decision.png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distinction practical: ChatGPT helped shape prompts and content, Codex was the integrated development environment, and Gemini supplied the 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our team's experience, not a universal benchmark. The important caveat is that Gemini did not receive the same integrated coding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and last stages are clear bookends. Between them, decisions, UI, and the gameplay web were rebuilt multiple times and often at the same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- /Users/matthew/echo_adventure repository git history through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teammate for their manual-development estimate before presenting this comparison. Do not invent the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vague prompts and light testing created rework. The quality of the output depended on the specificity of the request and the rigor of the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tradeoff: AI made a month of small daily development sessions productive, but production quality still depended on human understanding, testing, and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- /private/tmp/echo-final-deck.ndK8s3/app-final.png</a:t>
            </a:r>
          </a:p>
          <a:p xmlns:a="http://schemas.openxmlformats.org/drawingml/2006/main">
            <a:r>
              <a:t>- /Users/matthew/echo_adventure/README.md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bd55484db4f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68950e1cd7488f" /><Relationship Type="http://schemas.openxmlformats.org/officeDocument/2006/relationships/slideLayout" Target="/ppt/slideLayouts/slideLayout1.xml" Id="Rb4830fa926d344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830fa926d344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c34d187384056" /><Relationship Type="http://schemas.openxmlformats.org/officeDocument/2006/relationships/image" Target="/ppt/media/image.png" Id="Rb6efd3c984924039" /><Relationship Type="http://schemas.openxmlformats.org/officeDocument/2006/relationships/image" Target="/ppt/media/image2.png" Id="Rc754feb258144434" /><Relationship Type="http://schemas.openxmlformats.org/officeDocument/2006/relationships/notesSlide" Target="/ppt/notesSlides/notesSlide1.xml" Id="Rcd7efeeb18724b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f20381d2d4a85" /><Relationship Type="http://schemas.openxmlformats.org/officeDocument/2006/relationships/notesSlide" Target="/ppt/notesSlides/notesSlide2.xml" Id="R73157388f0c44a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b2b8735234ac3" /><Relationship Type="http://schemas.openxmlformats.org/officeDocument/2006/relationships/image" Target="/ppt/media/image.jpeg" Id="R145dd1b9aba94910" /><Relationship Type="http://schemas.openxmlformats.org/officeDocument/2006/relationships/notesSlide" Target="/ppt/notesSlides/notesSlide3.xml" Id="R3b08539477764b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baa3e376a481b" /><Relationship Type="http://schemas.openxmlformats.org/officeDocument/2006/relationships/notesSlide" Target="/ppt/notesSlides/notesSlide4.xml" Id="Refbd1dd540f744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423e9985e4992" /><Relationship Type="http://schemas.openxmlformats.org/officeDocument/2006/relationships/notesSlide" Target="/ppt/notesSlides/notesSlide5.xml" Id="R29315967794b49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0af3a640342e7" /><Relationship Type="http://schemas.openxmlformats.org/officeDocument/2006/relationships/notesSlide" Target="/ppt/notesSlides/notesSlide6.xml" Id="R3623c4c9874042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bc1c43065454d" /><Relationship Type="http://schemas.openxmlformats.org/officeDocument/2006/relationships/notesSlide" Target="/ppt/notesSlides/notesSlide7.xml" Id="R5ab40dab363849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30472e9a74819" /><Relationship Type="http://schemas.openxmlformats.org/officeDocument/2006/relationships/notesSlide" Target="/ppt/notesSlides/notesSlide8.xml" Id="R146f21a8694e4c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0476c80604b41" /><Relationship Type="http://schemas.openxmlformats.org/officeDocument/2006/relationships/image" Target="/ppt/media/image2.jpeg" Id="R0dc41d051fd84383" /><Relationship Type="http://schemas.openxmlformats.org/officeDocument/2006/relationships/notesSlide" Target="/ppt/notesSlides/notesSlide9.xml" Id="R31efa4823f3e42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5367A4C-D6AB-44D5-B138-0F0CF5C6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7DC4E8D-C657-4254-8C5D-A13F4304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500481C4-CA4B-43FE-B63C-95207031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2FA6898E-5BD1-4C99-92A7-11E88B14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cover-media-mask">
            <a:extLst xmlns:a="http://schemas.openxmlformats.org/drawingml/2006/main">
              <a:ext uri="{FF2B5EF4-FFF2-40B4-BE49-F238E27FC236}">
                <a16:creationId xmlns:a16="http://schemas.microsoft.com/office/drawing/2014/main" id="{B6376894-4DBF-40B5-BBFD-4BB24A4A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F2F7DB4-5C3C-489D-9FB5-F4BEA1D5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5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67E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67E85"/>
                </a:solidFill>
                <a:latin typeface="Helvetica Neue"/>
                <a:ea typeface="Helvetica Neue"/>
                <a:cs typeface="Helvetica Neue"/>
              </a:rPr>
              <a:t>FINAL PRESENTATION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7D6ECE6-CCC5-40FF-8E07-B89137BC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ECHO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Adventure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49FA2C9-7775-47CE-BE4E-07AC91FB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3865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rPr>
              <a:t>Building a 10-minute shipyard decision game with AI.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fd3c984924039"/>
          <a:stretch xmlns:a="http://schemas.openxmlformats.org/drawingml/2006/main"/>
        </p:blipFill>
        <p:spPr>
          <a:xfrm xmlns:a="http://schemas.openxmlformats.org/drawingml/2006/main">
            <a:off x="6667500" y="1217083"/>
            <a:ext cx="4762500" cy="1756833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4feb258144434"/>
          <a:stretch xmlns:a="http://schemas.openxmlformats.org/drawingml/2006/main"/>
        </p:blipFill>
        <p:spPr>
          <a:xfrm xmlns:a="http://schemas.openxmlformats.org/drawingml/2006/main">
            <a:off x="6591300" y="3597875"/>
            <a:ext cx="4953000" cy="10147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398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1C09CEB-7625-417E-85FA-1D375641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A214E61-4E7D-48CF-85C5-4E930600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66A8BC0-89EA-41B5-B799-4BCFCC13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26C3BDE6-85DA-405E-A43E-43EF1632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6EFAD80-E82E-4051-9D6D-4EF71731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10-minute game built to prove one point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A21C651-EE0C-4922-B68B-803093FB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jobs to complete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D7CC3E6-A478-4AF6-B61B-4078C01D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minutes per run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12079DD-343E-4EC8-B58B-70A87988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shipyard decisions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E77A0DA-0E46-4B30-8DA7-BCF99653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85B0447-6BC3-438D-8558-EC13F3A8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DAILY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8B72970-90BC-4C58-8190-495EC109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~10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A0D77B9-EA7B-48E4-8CEF-17E13D7E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INTRO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Oregon Trail-style choose-your-own-adventure built around daily shipyard decisions. Complete every job as quickly as possible—and see whether you can keep pace with ECHO.</a:t>
            </a:r>
          </a:p>
        </p:txBody>
      </p:sp>
      <p:sp>
        <p:nvSpPr>
          <p:cNvPr id="13" name="echo-accent-rule">
            <a:extLst xmlns:a="http://schemas.openxmlformats.org/drawingml/2006/main">
              <a:ext uri="{FF2B5EF4-FFF2-40B4-BE49-F238E27FC236}">
                <a16:creationId xmlns:a16="http://schemas.microsoft.com/office/drawing/2014/main" id="{5476B091-117F-47FB-BFCB-61AA79D5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241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F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42875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5B60EA8-A9B1-44A1-8B65-1A0C92E7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DEB4C3C-A10E-4C39-B07E-C1274B82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DA410898-358A-4867-9E6E-6DAACAE8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9558F38E-0992-42BB-A1AD-AD27FD06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demo-eyebrow">
            <a:extLst xmlns:a="http://schemas.openxmlformats.org/drawingml/2006/main">
              <a:ext uri="{FF2B5EF4-FFF2-40B4-BE49-F238E27FC236}">
                <a16:creationId xmlns:a16="http://schemas.microsoft.com/office/drawing/2014/main" id="{A052A2EC-32D3-4CAF-BAEF-5A45703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5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67E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67E85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7" name="demo-title">
            <a:extLst xmlns:a="http://schemas.openxmlformats.org/drawingml/2006/main">
              <a:ext uri="{FF2B5EF4-FFF2-40B4-BE49-F238E27FC236}">
                <a16:creationId xmlns:a16="http://schemas.microsoft.com/office/drawing/2014/main" id="{391BA971-8423-495B-8AB7-01C60C75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478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the daily calls.</a:t>
            </a:r>
          </a:p>
        </p:txBody>
      </p:sp>
      <p:sp>
        <p:nvSpPr>
          <p:cNvPr id="8" name="demo-body">
            <a:extLst xmlns:a="http://schemas.openxmlformats.org/drawingml/2006/main">
              <a:ext uri="{FF2B5EF4-FFF2-40B4-BE49-F238E27FC236}">
                <a16:creationId xmlns:a16="http://schemas.microsoft.com/office/drawing/2014/main" id="{FCF09ECD-13F7-4893-855E-CA832DC0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4810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rPr>
              <a:t>Try to keep pace with ECHO.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dd1b9aba94910"/>
          <a:srcRect xmlns:a="http://schemas.openxmlformats.org/drawingml/2006/main" l="62" t="0" r="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1474954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B5229CE-022A-4D72-87D3-55D6B508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EAE0DE8-3936-4AC7-8CAC-BA4364AD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AI tools played three different roles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C7A61826-F14B-4FD0-A579-2108C48C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ChatGPT
Prompt refinement and decision generation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B2BEFD90-A34F-4BC3-AC96-CC332BC5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Codex app
Actual development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CECD9D93-C645-45BF-A48C-8C361B0B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Gemini
Logo generation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5BE5D74B-D79D-4E3B-9F87-214FEC5D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9703D8F4-5D88-45ED-9852-D27C0E8A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61B68DA4-FF49-497C-9FF4-47212430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echo-accent-rule">
            <a:extLst xmlns:a="http://schemas.openxmlformats.org/drawingml/2006/main">
              <a:ext uri="{FF2B5EF4-FFF2-40B4-BE49-F238E27FC236}">
                <a16:creationId xmlns:a16="http://schemas.microsoft.com/office/drawing/2014/main" id="{1D1EB439-326A-413D-8E66-4E7D65DB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9540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F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71371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5F9549A-1AB6-480B-9E5C-CCE2CC4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1DCB996-B712-4D2B-9CCB-4534950E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ChatGPT carried the coding workflow; Gemini filled the image gap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E73CA65A-2AF3-4FD0-87CB-03624FB2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278BBB9-88AD-4BAB-B85B-E9416145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CHATGPT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B134E05-ECE4-46B1-82C6-05A26068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Code generation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Prompt refinement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Bug and error scanning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8868FF6-893C-4320-BCC0-296C877D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90D0EBC-116E-4C59-93F6-3932342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GEMINI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6774EBB-85E7-4060-BAF3-B3F58504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 generation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Logo creation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Limited coding comparison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7147B13-D6EC-4CB8-A194-444E7C2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CHATGPT VS. GEMINI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 our workflow, ChatGPT was stronger for coding, prompt refinement, and codebase scanning.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did not meaningfully test Gemini for coding because we used the integrated Codex app.</a:t>
            </a:r>
          </a:p>
        </p:txBody>
      </p:sp>
      <p:sp>
        <p:nvSpPr>
          <p:cNvPr id="10" name="echo-accent-rule">
            <a:extLst xmlns:a="http://schemas.openxmlformats.org/drawingml/2006/main">
              <a:ext uri="{FF2B5EF4-FFF2-40B4-BE49-F238E27FC236}">
                <a16:creationId xmlns:a16="http://schemas.microsoft.com/office/drawing/2014/main" id="{812CDED9-94B0-4F47-853D-016C5BD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715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F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72524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B0B5775-56C7-4F19-BD1F-5982A863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FC6EF61-DCEF-4B11-80C9-FA48B9B1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project progressed through repeated, overlapping rebuilds</a:t>
            </a:r>
          </a:p>
        </p:txBody>
      </p:sp>
      <p:graphicFrame>
        <p:nvGraphicFramePr>
          <p:cNvPr id="28" name="Google-Shape-953-p80-4"/>
          <p:cNvGraphicFramePr/>
          <p:nvPr/>
        </p:nvGraphicFramePr>
        <p:xfrm>
          <a:off xmlns:a="http://schemas.openxmlformats.org/drawingml/2006/main" x="393668" y="1379887"/>
          <a:ext xmlns:a="http://schemas.openxmlformats.org/drawingml/2006/main" cx="11404664" cy="46144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52"/>
                <a:gridCol w="2280952"/>
                <a:gridCol w="2280952"/>
                <a:gridCol w="2280952"/>
                <a:gridCol w="2280952"/>
              </a:tblGrid>
              <a:tr h="4614482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F040BA8D-1BB3-464B-BAD2-C4ADC641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349D0CE3-D1DD-4338-96CC-EA14871B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Gameplay web rework</a:t>
            </a:r>
          </a:p>
        </p:txBody>
      </p:sp>
      <p:sp>
        <p:nvSpPr>
          <p:cNvPr id="6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D5235A93-84C1-4C70-B57B-641857FB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0DE022EA-33CD-45E0-A490-78EAA2AC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middle three repeated and ran concurrently</a:t>
            </a:r>
          </a:p>
        </p:txBody>
      </p:sp>
      <p:sp>
        <p:nvSpPr>
          <p:cNvPr id="8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07FC7A09-1AD6-4C62-81B3-91232357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27B221CB-5D0A-4FD3-916B-836F6DA1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UI revamp, again</a:t>
            </a:r>
          </a:p>
        </p:txBody>
      </p:sp>
      <p:sp>
        <p:nvSpPr>
          <p:cNvPr id="10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2924CE0D-00CA-4FF1-8762-6809B4F8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0F6D3A66-CB69-4B12-B6AC-BE2C112D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UI revamp</a:t>
            </a:r>
          </a:p>
        </p:txBody>
      </p:sp>
      <p:sp>
        <p:nvSpPr>
          <p:cNvPr id="12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36DE252A-FE16-414C-AC7B-115A9324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73AB26A4-8182-4A81-AE15-381A800A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Grand decision overhaul</a:t>
            </a:r>
          </a:p>
        </p:txBody>
      </p:sp>
      <p:sp>
        <p:nvSpPr>
          <p:cNvPr id="14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62BC35A3-9323-445A-81D9-240D6CDD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7A553265-60E6-4739-BC2D-013F8038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Initial project creation</a:t>
            </a:r>
          </a:p>
        </p:txBody>
      </p:sp>
      <p:sp>
        <p:nvSpPr>
          <p:cNvPr id="16" name="phase-header-mask-1">
            <a:extLst xmlns:a="http://schemas.openxmlformats.org/drawingml/2006/main">
              <a:ext uri="{FF2B5EF4-FFF2-40B4-BE49-F238E27FC236}">
                <a16:creationId xmlns:a16="http://schemas.microsoft.com/office/drawing/2014/main" id="{A67B00CE-FC9A-4DD8-B1E0-BC1EF874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93" y="1385888"/>
            <a:ext cx="2262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hase-header-1">
            <a:extLst xmlns:a="http://schemas.openxmlformats.org/drawingml/2006/main">
              <a:ext uri="{FF2B5EF4-FFF2-40B4-BE49-F238E27FC236}">
                <a16:creationId xmlns:a16="http://schemas.microsoft.com/office/drawing/2014/main" id="{12EF2CE3-D5FC-4450-8787-955F59B8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15049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 CREATE</a:t>
            </a:r>
          </a:p>
        </p:txBody>
      </p:sp>
      <p:sp>
        <p:nvSpPr>
          <p:cNvPr id="18" name="phase-header-mask-2">
            <a:extLst xmlns:a="http://schemas.openxmlformats.org/drawingml/2006/main">
              <a:ext uri="{FF2B5EF4-FFF2-40B4-BE49-F238E27FC236}">
                <a16:creationId xmlns:a16="http://schemas.microsoft.com/office/drawing/2014/main" id="{002CAFCA-39E3-46B4-AB1F-2096B1A7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1385888"/>
            <a:ext cx="2262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hase-header-2">
            <a:extLst xmlns:a="http://schemas.openxmlformats.org/drawingml/2006/main">
              <a:ext uri="{FF2B5EF4-FFF2-40B4-BE49-F238E27FC236}">
                <a16:creationId xmlns:a16="http://schemas.microsoft.com/office/drawing/2014/main" id="{ABCC4249-BD7B-459A-A337-6ACEE4BA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5049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 DECISIONS</a:t>
            </a:r>
          </a:p>
        </p:txBody>
      </p:sp>
      <p:sp>
        <p:nvSpPr>
          <p:cNvPr id="20" name="phase-header-mask-3">
            <a:extLst xmlns:a="http://schemas.openxmlformats.org/drawingml/2006/main">
              <a:ext uri="{FF2B5EF4-FFF2-40B4-BE49-F238E27FC236}">
                <a16:creationId xmlns:a16="http://schemas.microsoft.com/office/drawing/2014/main" id="{033D37A0-042D-48AE-B409-8D9732FA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097" y="1385888"/>
            <a:ext cx="2262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hase-header-3">
            <a:extLst xmlns:a="http://schemas.openxmlformats.org/drawingml/2006/main">
              <a:ext uri="{FF2B5EF4-FFF2-40B4-BE49-F238E27FC236}">
                <a16:creationId xmlns:a16="http://schemas.microsoft.com/office/drawing/2014/main" id="{8E7D24C8-6D96-4F4B-BD60-189708E6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872" y="15049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 UI</a:t>
            </a:r>
          </a:p>
        </p:txBody>
      </p:sp>
      <p:sp>
        <p:nvSpPr>
          <p:cNvPr id="22" name="phase-header-mask-4">
            <a:extLst xmlns:a="http://schemas.openxmlformats.org/drawingml/2006/main">
              <a:ext uri="{FF2B5EF4-FFF2-40B4-BE49-F238E27FC236}">
                <a16:creationId xmlns:a16="http://schemas.microsoft.com/office/drawing/2014/main" id="{D5E2CFED-8BEC-468D-8D20-600A50E3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049" y="1385888"/>
            <a:ext cx="2262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hase-header-4">
            <a:extLst xmlns:a="http://schemas.openxmlformats.org/drawingml/2006/main">
              <a:ext uri="{FF2B5EF4-FFF2-40B4-BE49-F238E27FC236}">
                <a16:creationId xmlns:a16="http://schemas.microsoft.com/office/drawing/2014/main" id="{F1BEEFA2-4D89-4B8E-B970-5BC4B2E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15049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  GAMEPLAY WEB</a:t>
            </a:r>
          </a:p>
        </p:txBody>
      </p:sp>
      <p:sp>
        <p:nvSpPr>
          <p:cNvPr id="24" name="phase-header-mask-5">
            <a:extLst xmlns:a="http://schemas.openxmlformats.org/drawingml/2006/main">
              <a:ext uri="{FF2B5EF4-FFF2-40B4-BE49-F238E27FC236}">
                <a16:creationId xmlns:a16="http://schemas.microsoft.com/office/drawing/2014/main" id="{C7689CEF-F4C0-4831-BA50-93CDDE89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000" y="1385888"/>
            <a:ext cx="2262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hase-header-5">
            <a:extLst xmlns:a="http://schemas.openxmlformats.org/drawingml/2006/main">
              <a:ext uri="{FF2B5EF4-FFF2-40B4-BE49-F238E27FC236}">
                <a16:creationId xmlns:a16="http://schemas.microsoft.com/office/drawing/2014/main" id="{0F519716-2EAB-42D1-9001-51E98F25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775" y="15049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7E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67E85"/>
                </a:solidFill>
                <a:latin typeface="Helvetica Neue"/>
                <a:ea typeface="Helvetica Neue"/>
                <a:cs typeface="Helvetica Neue"/>
              </a:rPr>
              <a:t>05  CURRENT APP</a:t>
            </a:r>
          </a:p>
        </p:txBody>
      </p:sp>
    </p:spTree>
    <p:extLst>
      <p:ext uri="{BB962C8B-B14F-4D97-AF65-F5344CB8AC3E}">
        <p14:creationId xmlns:p14="http://schemas.microsoft.com/office/powerpoint/2010/main" val="21147947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E070562-7DA9-4309-A39F-AEEA272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1CA92C0-AD67-4143-87DF-5847F585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Vibe coding shifts the work from implementation to oversight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09492CF8-E90F-4112-9746-9A9118A6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0676331-D7B2-4FE7-AB72-39D060F6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MANUAL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416B9CC-91B2-4485-882C-32692F86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More programming knowledge required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 is deliberate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Teammate estimate: __________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16C4F3A7-E326-40DC-A737-61C95200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A04A531-9627-4C59-B082-5564F524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VIBE CODING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B26A01A-44C9-440B-B24B-BA04E37A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High-level understanding can be enough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month, a little work each day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More review and debugging work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C548595-14F8-4116-85AB-4687F17A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MANUAL VS. VIBE CODING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Both approaches trade time for different kinds of work.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estimate below is intentionally left open for teammate feedback.</a:t>
            </a:r>
          </a:p>
        </p:txBody>
      </p:sp>
      <p:sp>
        <p:nvSpPr>
          <p:cNvPr id="10" name="echo-accent-rule">
            <a:extLst xmlns:a="http://schemas.openxmlformats.org/drawingml/2006/main">
              <a:ext uri="{FF2B5EF4-FFF2-40B4-BE49-F238E27FC236}">
                <a16:creationId xmlns:a16="http://schemas.microsoft.com/office/drawing/2014/main" id="{1B89C4AE-B7FD-4487-A70C-81FF7103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715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F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73649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43FE222-2402-44C8-A010-0B272AAA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0C5C25C-31FC-4802-BD28-7211BC88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biggest lessons were specificity and testing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D0D92DF-3796-4F47-9E00-0D40080C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AI-built software—especially UI work—needs extensive testing.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50F82325-6308-460A-8C8C-D1A59248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PROMPTS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Prompts must be as specific as possible.</a:t>
            </a:r>
          </a:p>
        </p:txBody>
      </p:sp>
      <p:sp>
        <p:nvSpPr>
          <p:cNvPr id="5" name="echo-accent-rule">
            <a:extLst xmlns:a="http://schemas.openxmlformats.org/drawingml/2006/main">
              <a:ext uri="{FF2B5EF4-FFF2-40B4-BE49-F238E27FC236}">
                <a16:creationId xmlns:a16="http://schemas.microsoft.com/office/drawing/2014/main" id="{58ACC06C-6074-4421-A64E-93A737EB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9540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F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71560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45BB47D-8AB3-4043-A6FF-E1BC6FF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58ECE90-034C-463A-8B40-3AD78F15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56F18287-19FE-4176-8DD8-474FCFD3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365BB44-A70D-49D2-A459-252430E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2DD42AA-A18A-4DBC-A905-FD5ADA5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2450"/>
            <a:ext cx="533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accelerated development.</a:t>
            </a:r>
          </a:p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Humans still own the result.</a:t>
            </a:r>
          </a:p>
        </p:txBody>
      </p:sp>
      <p:sp>
        <p:nvSpPr>
          <p:cNvPr id="7" name="close-body">
            <a:extLst xmlns:a="http://schemas.openxmlformats.org/drawingml/2006/main">
              <a:ext uri="{FF2B5EF4-FFF2-40B4-BE49-F238E27FC236}">
                <a16:creationId xmlns:a16="http://schemas.microsoft.com/office/drawing/2014/main" id="{8B1D5806-1453-4F35-BC9D-BE4DE7EA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62250"/>
            <a:ext cx="51435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rPr>
              <a:t>Production-grade work still needs human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rPr>
              <a:t>AI dependence can limit codebase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rPr>
              <a:t>Development time and debugging time trade places.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rPr>
              <a:t>Best fit: smaller development work and questions.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41d051fd84383"/>
          <a:srcRect xmlns:a="http://schemas.openxmlformats.org/drawingml/2006/main" l="62" t="0" r="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1377744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2026-07-29T19:03:14.2290000Z</dcterms:created>
  <dcterms:modified xsi:type="dcterms:W3CDTF">2026-07-29T19:03:14.2290000Z</dcterms:modified>
</coreProperties>
</file>